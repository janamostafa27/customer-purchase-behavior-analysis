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Open Sans Bold" panose="020B0604020202020204" charset="0"/>
      <p:regular r:id="rId14"/>
    </p:embeddedFont>
    <p:embeddedFont>
      <p:font typeface="TT Supermolot Neue Expanded Bold" panose="020B0604020202020204" charset="0"/>
      <p:regular r:id="rId15"/>
    </p:embeddedFont>
    <p:embeddedFont>
      <p:font typeface="TT Supermolot Neue Expanded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Open Sans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089639" y="8469381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829682" y="2239158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66875" y="2801211"/>
            <a:ext cx="14313744" cy="5165829"/>
          </a:xfrm>
          <a:custGeom>
            <a:avLst/>
            <a:gdLst/>
            <a:ahLst/>
            <a:cxnLst/>
            <a:rect l="l" t="t" r="r" b="b"/>
            <a:pathLst>
              <a:path w="14313744" h="5165829">
                <a:moveTo>
                  <a:pt x="0" y="0"/>
                </a:moveTo>
                <a:lnTo>
                  <a:pt x="14313744" y="0"/>
                </a:lnTo>
                <a:lnTo>
                  <a:pt x="14313744" y="5165829"/>
                </a:lnTo>
                <a:lnTo>
                  <a:pt x="0" y="51658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 l="-48168" b="-5872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623412" y="3539404"/>
            <a:ext cx="13041175" cy="303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170"/>
              </a:lnSpc>
              <a:spcBef>
                <a:spcPct val="0"/>
              </a:spcBef>
            </a:pPr>
            <a:r>
              <a:rPr lang="en-US" sz="8693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Customer Purchase Behavior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94119" y="9391892"/>
            <a:ext cx="253407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By Jana Mostafa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444225" y="1611374"/>
            <a:ext cx="6750960" cy="7365899"/>
          </a:xfrm>
          <a:custGeom>
            <a:avLst/>
            <a:gdLst/>
            <a:ahLst/>
            <a:cxnLst/>
            <a:rect l="l" t="t" r="r" b="b"/>
            <a:pathLst>
              <a:path w="6750960" h="7365899">
                <a:moveTo>
                  <a:pt x="6750960" y="0"/>
                </a:moveTo>
                <a:lnTo>
                  <a:pt x="0" y="0"/>
                </a:lnTo>
                <a:lnTo>
                  <a:pt x="0" y="7365900"/>
                </a:lnTo>
                <a:lnTo>
                  <a:pt x="6750960" y="7365900"/>
                </a:lnTo>
                <a:lnTo>
                  <a:pt x="675096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10146" y="1422293"/>
            <a:ext cx="7209443" cy="1101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099"/>
              </a:lnSpc>
              <a:spcBef>
                <a:spcPct val="0"/>
              </a:spcBef>
            </a:pPr>
            <a:r>
              <a:rPr lang="en-US" sz="6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BUSINESS GOALS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10146" y="3697298"/>
            <a:ext cx="13786961" cy="3183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095" lvl="1" indent="-390547" algn="l">
              <a:lnSpc>
                <a:spcPts val="5064"/>
              </a:lnSpc>
              <a:buAutoNum type="arabicPeriod"/>
            </a:pPr>
            <a:r>
              <a:rPr lang="en-US" sz="361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Predicting Online Retail Revenue.</a:t>
            </a:r>
          </a:p>
          <a:p>
            <a:pPr marL="781095" lvl="1" indent="-390547" algn="l">
              <a:lnSpc>
                <a:spcPts val="5064"/>
              </a:lnSpc>
              <a:buAutoNum type="arabicPeriod"/>
            </a:pPr>
            <a:r>
              <a:rPr lang="en-US" sz="361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Customer Purchase Behavior Analysis.</a:t>
            </a:r>
          </a:p>
          <a:p>
            <a:pPr marL="781095" lvl="1" indent="-390547" algn="l">
              <a:lnSpc>
                <a:spcPts val="5064"/>
              </a:lnSpc>
              <a:buAutoNum type="arabicPeriod"/>
            </a:pPr>
            <a:r>
              <a:rPr lang="en-US" sz="361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Revenue Forecasting for E-Commerce.</a:t>
            </a:r>
          </a:p>
          <a:p>
            <a:pPr marL="781095" lvl="1" indent="-390547" algn="l">
              <a:lnSpc>
                <a:spcPts val="5064"/>
              </a:lnSpc>
              <a:buAutoNum type="arabicPeriod"/>
            </a:pPr>
            <a:r>
              <a:rPr lang="en-US" sz="361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Online Retail Sales Prediction.</a:t>
            </a:r>
          </a:p>
          <a:p>
            <a:pPr marL="0" lvl="0" indent="0" algn="l">
              <a:lnSpc>
                <a:spcPts val="5064"/>
              </a:lnSpc>
              <a:spcBef>
                <a:spcPct val="0"/>
              </a:spcBef>
            </a:pPr>
            <a:endParaRPr lang="en-US" sz="3617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7" name="Object 7"/>
          <p:cNvGraphicFramePr/>
          <p:nvPr/>
        </p:nvGraphicFramePr>
        <p:xfrm>
          <a:off x="1314450" y="2201647"/>
          <a:ext cx="15087600" cy="440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Worksheet" r:id="rId8" imgW="18097500" imgH="7416800" progId="Excel.Sheet.12">
                  <p:embed/>
                </p:oleObj>
              </mc:Choice>
              <mc:Fallback>
                <p:oleObj name="Worksheet" r:id="rId8" imgW="18097500" imgH="7416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14450" y="2201647"/>
                        <a:ext cx="15087600" cy="440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2876358" y="537869"/>
            <a:ext cx="6267642" cy="1101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99"/>
              </a:lnSpc>
              <a:spcBef>
                <a:spcPct val="0"/>
              </a:spcBef>
            </a:pPr>
            <a:r>
              <a:rPr lang="en-US" sz="6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98510" y="2201647"/>
            <a:ext cx="8635295" cy="7290562"/>
          </a:xfrm>
          <a:custGeom>
            <a:avLst/>
            <a:gdLst/>
            <a:ahLst/>
            <a:cxnLst/>
            <a:rect l="l" t="t" r="r" b="b"/>
            <a:pathLst>
              <a:path w="8635295" h="7290562">
                <a:moveTo>
                  <a:pt x="0" y="0"/>
                </a:moveTo>
                <a:lnTo>
                  <a:pt x="8635295" y="0"/>
                </a:lnTo>
                <a:lnTo>
                  <a:pt x="8635295" y="7290562"/>
                </a:lnTo>
                <a:lnTo>
                  <a:pt x="0" y="72905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022535" y="411163"/>
            <a:ext cx="6737473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100"/>
              </a:lnSpc>
              <a:spcBef>
                <a:spcPct val="0"/>
              </a:spcBef>
            </a:pPr>
            <a:r>
              <a:rPr lang="en-US" sz="6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Findings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44733" y="3671799"/>
            <a:ext cx="5703632" cy="2175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86"/>
              </a:lnSpc>
              <a:spcBef>
                <a:spcPct val="0"/>
              </a:spcBef>
            </a:pPr>
            <a:r>
              <a:rPr lang="en-US" sz="24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correlation beyween unit price and itself is 1 so it is totally positive and the same as quantity and itself, but the correlation between quantity and unit price is negative.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544733" y="2909634"/>
            <a:ext cx="3469124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This diagram shows: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10146" y="2201647"/>
            <a:ext cx="9974068" cy="7056653"/>
          </a:xfrm>
          <a:custGeom>
            <a:avLst/>
            <a:gdLst/>
            <a:ahLst/>
            <a:cxnLst/>
            <a:rect l="l" t="t" r="r" b="b"/>
            <a:pathLst>
              <a:path w="9974068" h="7056653">
                <a:moveTo>
                  <a:pt x="0" y="0"/>
                </a:moveTo>
                <a:lnTo>
                  <a:pt x="9974068" y="0"/>
                </a:lnTo>
                <a:lnTo>
                  <a:pt x="9974068" y="7056653"/>
                </a:lnTo>
                <a:lnTo>
                  <a:pt x="0" y="70566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509347" y="434867"/>
            <a:ext cx="9916172" cy="1101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099"/>
              </a:lnSpc>
              <a:spcBef>
                <a:spcPct val="0"/>
              </a:spcBef>
            </a:pPr>
            <a:r>
              <a:rPr lang="en-US" sz="6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Findings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999892" y="3534976"/>
            <a:ext cx="3676845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This diagram shows: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999892" y="4240770"/>
            <a:ext cx="5259408" cy="1298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88"/>
              </a:lnSpc>
              <a:spcBef>
                <a:spcPct val="0"/>
              </a:spcBef>
            </a:pPr>
            <a:r>
              <a:rPr lang="en-US" sz="249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quantity that the customers buy is high in the low price products more than the high price.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89960" y="987395"/>
            <a:ext cx="9420411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00"/>
              </a:lnSpc>
              <a:spcBef>
                <a:spcPct val="0"/>
              </a:spcBef>
            </a:pPr>
            <a:r>
              <a:rPr lang="en-US" sz="6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Outcomes</a:t>
            </a:r>
          </a:p>
        </p:txBody>
      </p:sp>
      <p:sp>
        <p:nvSpPr>
          <p:cNvPr id="4" name="Freeform 4"/>
          <p:cNvSpPr/>
          <p:nvPr/>
        </p:nvSpPr>
        <p:spPr>
          <a:xfrm>
            <a:off x="714659" y="4213186"/>
            <a:ext cx="4152050" cy="1770162"/>
          </a:xfrm>
          <a:custGeom>
            <a:avLst/>
            <a:gdLst/>
            <a:ahLst/>
            <a:cxnLst/>
            <a:rect l="l" t="t" r="r" b="b"/>
            <a:pathLst>
              <a:path w="4152050" h="1770162">
                <a:moveTo>
                  <a:pt x="0" y="0"/>
                </a:moveTo>
                <a:lnTo>
                  <a:pt x="4152050" y="0"/>
                </a:lnTo>
                <a:lnTo>
                  <a:pt x="4152050" y="1770163"/>
                </a:lnTo>
                <a:lnTo>
                  <a:pt x="0" y="17701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14659" y="6434212"/>
            <a:ext cx="4152050" cy="1770162"/>
          </a:xfrm>
          <a:custGeom>
            <a:avLst/>
            <a:gdLst/>
            <a:ahLst/>
            <a:cxnLst/>
            <a:rect l="l" t="t" r="r" b="b"/>
            <a:pathLst>
              <a:path w="4152050" h="1770162">
                <a:moveTo>
                  <a:pt x="0" y="0"/>
                </a:moveTo>
                <a:lnTo>
                  <a:pt x="4152050" y="0"/>
                </a:lnTo>
                <a:lnTo>
                  <a:pt x="4152050" y="1770162"/>
                </a:lnTo>
                <a:lnTo>
                  <a:pt x="0" y="1770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>
            <a:off x="6832248" y="6812023"/>
            <a:ext cx="1967733" cy="1904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1" name="AutoShape 11"/>
          <p:cNvSpPr/>
          <p:nvPr/>
        </p:nvSpPr>
        <p:spPr>
          <a:xfrm>
            <a:off x="6812236" y="5314945"/>
            <a:ext cx="1967733" cy="1904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2" name="AutoShape 12"/>
          <p:cNvSpPr/>
          <p:nvPr/>
        </p:nvSpPr>
        <p:spPr>
          <a:xfrm flipH="1">
            <a:off x="6812051" y="4809890"/>
            <a:ext cx="18864" cy="2267244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V="1">
            <a:off x="4866709" y="4809890"/>
            <a:ext cx="1945342" cy="3833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V="1">
            <a:off x="4867004" y="7058087"/>
            <a:ext cx="1945047" cy="1904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8840961" y="4787505"/>
            <a:ext cx="2751832" cy="1092971"/>
            <a:chOff x="0" y="0"/>
            <a:chExt cx="724762" cy="2878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24762" cy="287861"/>
            </a:xfrm>
            <a:custGeom>
              <a:avLst/>
              <a:gdLst/>
              <a:ahLst/>
              <a:cxnLst/>
              <a:rect l="l" t="t" r="r" b="b"/>
              <a:pathLst>
                <a:path w="724762" h="287861">
                  <a:moveTo>
                    <a:pt x="0" y="0"/>
                  </a:moveTo>
                  <a:lnTo>
                    <a:pt x="724762" y="0"/>
                  </a:lnTo>
                  <a:lnTo>
                    <a:pt x="724762" y="287861"/>
                  </a:lnTo>
                  <a:lnTo>
                    <a:pt x="0" y="287861"/>
                  </a:lnTo>
                  <a:close/>
                </a:path>
              </a:pathLst>
            </a:custGeom>
            <a:solidFill>
              <a:srgbClr val="4A81E5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724762" cy="325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01155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Linear Regression Model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495897" y="2467100"/>
            <a:ext cx="9296206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 have two models - Linear Regression Model and Random forest Regression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59617" y="4556124"/>
            <a:ext cx="2306213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UnitPrice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59617" y="6735824"/>
            <a:ext cx="2306213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Quality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40961" y="6309101"/>
            <a:ext cx="2751832" cy="1092971"/>
            <a:chOff x="0" y="0"/>
            <a:chExt cx="724762" cy="28786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24762" cy="287861"/>
            </a:xfrm>
            <a:custGeom>
              <a:avLst/>
              <a:gdLst/>
              <a:ahLst/>
              <a:cxnLst/>
              <a:rect l="l" t="t" r="r" b="b"/>
              <a:pathLst>
                <a:path w="724762" h="287861">
                  <a:moveTo>
                    <a:pt x="0" y="0"/>
                  </a:moveTo>
                  <a:lnTo>
                    <a:pt x="724762" y="0"/>
                  </a:lnTo>
                  <a:lnTo>
                    <a:pt x="724762" y="287861"/>
                  </a:lnTo>
                  <a:lnTo>
                    <a:pt x="0" y="287861"/>
                  </a:lnTo>
                  <a:close/>
                </a:path>
              </a:pathLst>
            </a:custGeom>
            <a:solidFill>
              <a:srgbClr val="4A81E5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724762" cy="325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01155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Random Forest Regression Model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1592978" y="5353040"/>
            <a:ext cx="1967733" cy="1904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5" name="AutoShape 25"/>
          <p:cNvSpPr/>
          <p:nvPr/>
        </p:nvSpPr>
        <p:spPr>
          <a:xfrm>
            <a:off x="11592794" y="6831072"/>
            <a:ext cx="1967733" cy="1904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6" name="Freeform 26"/>
          <p:cNvSpPr/>
          <p:nvPr/>
        </p:nvSpPr>
        <p:spPr>
          <a:xfrm>
            <a:off x="12883374" y="4878387"/>
            <a:ext cx="4152050" cy="1770162"/>
          </a:xfrm>
          <a:custGeom>
            <a:avLst/>
            <a:gdLst/>
            <a:ahLst/>
            <a:cxnLst/>
            <a:rect l="l" t="t" r="r" b="b"/>
            <a:pathLst>
              <a:path w="4152050" h="1770162">
                <a:moveTo>
                  <a:pt x="0" y="0"/>
                </a:moveTo>
                <a:lnTo>
                  <a:pt x="4152051" y="0"/>
                </a:lnTo>
                <a:lnTo>
                  <a:pt x="4152051" y="1770162"/>
                </a:lnTo>
                <a:lnTo>
                  <a:pt x="0" y="1770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2883374" y="6546910"/>
            <a:ext cx="4152050" cy="1770162"/>
          </a:xfrm>
          <a:custGeom>
            <a:avLst/>
            <a:gdLst/>
            <a:ahLst/>
            <a:cxnLst/>
            <a:rect l="l" t="t" r="r" b="b"/>
            <a:pathLst>
              <a:path w="4152050" h="1770162">
                <a:moveTo>
                  <a:pt x="0" y="0"/>
                </a:moveTo>
                <a:lnTo>
                  <a:pt x="4152051" y="0"/>
                </a:lnTo>
                <a:lnTo>
                  <a:pt x="4152051" y="1770162"/>
                </a:lnTo>
                <a:lnTo>
                  <a:pt x="0" y="1770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4571641" y="5176092"/>
            <a:ext cx="2306213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Price 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571641" y="6844615"/>
            <a:ext cx="2306213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Price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095205" y="3934311"/>
          <a:ext cx="8839833" cy="4816097"/>
        </p:xfrm>
        <a:graphic>
          <a:graphicData uri="http://schemas.openxmlformats.org/drawingml/2006/table">
            <a:tbl>
              <a:tblPr/>
              <a:tblGrid>
                <a:gridCol w="2946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14172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Metrics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6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R2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6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RMSE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6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571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Good fit of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2354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Range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0 - 1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Depend on the scale of the target variable.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4018867" y="528345"/>
            <a:ext cx="9916172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00"/>
              </a:lnSpc>
              <a:spcBef>
                <a:spcPct val="0"/>
              </a:spcBef>
            </a:pPr>
            <a:r>
              <a:rPr lang="en-US" sz="6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Outcomes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61767" y="2400957"/>
            <a:ext cx="10364466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Two metrices - R squared and RMSE (Root Mean Squared Error)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929662"/>
              </p:ext>
            </p:extLst>
          </p:nvPr>
        </p:nvGraphicFramePr>
        <p:xfrm>
          <a:off x="5095205" y="3934311"/>
          <a:ext cx="8839833" cy="4816097"/>
        </p:xfrm>
        <a:graphic>
          <a:graphicData uri="http://schemas.openxmlformats.org/drawingml/2006/table">
            <a:tbl>
              <a:tblPr/>
              <a:tblGrid>
                <a:gridCol w="2946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14172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Model 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6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R2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6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RMSE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6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571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Linear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dirty="0" smtClean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0.53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dirty="0" smtClean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224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2354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Random Forest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dirty="0" smtClean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0.84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dirty="0" smtClean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391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4018867" y="528345"/>
            <a:ext cx="9916172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00"/>
              </a:lnSpc>
              <a:spcBef>
                <a:spcPct val="0"/>
              </a:spcBef>
            </a:pPr>
            <a:r>
              <a:rPr lang="en-US" sz="6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Outcomes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61889" y="2400957"/>
            <a:ext cx="9964222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Random Forest Regression Model is performing better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90611" y="3541450"/>
            <a:ext cx="7367701" cy="5997876"/>
          </a:xfrm>
          <a:custGeom>
            <a:avLst/>
            <a:gdLst/>
            <a:ahLst/>
            <a:cxnLst/>
            <a:rect l="l" t="t" r="r" b="b"/>
            <a:pathLst>
              <a:path w="7367701" h="5997876">
                <a:moveTo>
                  <a:pt x="0" y="0"/>
                </a:moveTo>
                <a:lnTo>
                  <a:pt x="7367702" y="0"/>
                </a:lnTo>
                <a:lnTo>
                  <a:pt x="7367702" y="5997876"/>
                </a:lnTo>
                <a:lnTo>
                  <a:pt x="0" y="59978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976953" y="3541450"/>
            <a:ext cx="8383401" cy="5997876"/>
          </a:xfrm>
          <a:custGeom>
            <a:avLst/>
            <a:gdLst/>
            <a:ahLst/>
            <a:cxnLst/>
            <a:rect l="l" t="t" r="r" b="b"/>
            <a:pathLst>
              <a:path w="8383401" h="5997876">
                <a:moveTo>
                  <a:pt x="0" y="0"/>
                </a:moveTo>
                <a:lnTo>
                  <a:pt x="8383400" y="0"/>
                </a:lnTo>
                <a:lnTo>
                  <a:pt x="8383400" y="5997876"/>
                </a:lnTo>
                <a:lnTo>
                  <a:pt x="0" y="59978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921" r="-921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204306" y="2378087"/>
            <a:ext cx="7545293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Our KPI - Percentage of Predictions Within ±15% of Actual Revenue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18867" y="809371"/>
            <a:ext cx="9916172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00"/>
              </a:lnSpc>
              <a:spcBef>
                <a:spcPct val="0"/>
              </a:spcBef>
            </a:pPr>
            <a:r>
              <a:rPr lang="en-US" sz="6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Outcomes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003652" y="3632637"/>
            <a:ext cx="8280695" cy="5906689"/>
          </a:xfrm>
          <a:custGeom>
            <a:avLst/>
            <a:gdLst/>
            <a:ahLst/>
            <a:cxnLst/>
            <a:rect l="l" t="t" r="r" b="b"/>
            <a:pathLst>
              <a:path w="8280695" h="5906689">
                <a:moveTo>
                  <a:pt x="0" y="0"/>
                </a:moveTo>
                <a:lnTo>
                  <a:pt x="8280696" y="0"/>
                </a:lnTo>
                <a:lnTo>
                  <a:pt x="8280696" y="5906689"/>
                </a:lnTo>
                <a:lnTo>
                  <a:pt x="0" y="59066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897" b="-897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204306" y="2378087"/>
            <a:ext cx="7545293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Accuracy for the Random Forest Regression Model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18867" y="809371"/>
            <a:ext cx="9916172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00"/>
              </a:lnSpc>
              <a:spcBef>
                <a:spcPct val="0"/>
              </a:spcBef>
            </a:pPr>
            <a:r>
              <a:rPr lang="en-US" sz="6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Outcomes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10146" y="1303083"/>
            <a:ext cx="7845643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00"/>
              </a:lnSpc>
              <a:spcBef>
                <a:spcPct val="0"/>
              </a:spcBef>
            </a:pPr>
            <a:r>
              <a:rPr lang="en-US" sz="6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Recommendation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61261" y="2613073"/>
            <a:ext cx="13282890" cy="6771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44"/>
              </a:lnSpc>
            </a:pPr>
            <a:r>
              <a:rPr lang="en-US" sz="238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 improve the accuracy and reliability of transaction revenue predictions, we can plan to deploy the Random Forest Regression model into production. This model provides more accurate forecasts with R² = </a:t>
            </a:r>
            <a:r>
              <a:rPr lang="en-US" sz="2388" dirty="0" smtClean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0.84 </a:t>
            </a:r>
            <a:r>
              <a:rPr lang="en-US" sz="238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and RMSE = </a:t>
            </a:r>
            <a:r>
              <a:rPr lang="en-US" sz="2388" dirty="0" smtClean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391, </a:t>
            </a:r>
            <a:r>
              <a:rPr lang="en-US" sz="238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helping the business optimize inventory and pricing decisions. I recommend the following steps to ensure the model is effectively deployed and continuously improved:</a:t>
            </a:r>
          </a:p>
          <a:p>
            <a:pPr marL="515754" lvl="1" indent="-257877" algn="just">
              <a:lnSpc>
                <a:spcPts val="3344"/>
              </a:lnSpc>
              <a:buAutoNum type="arabicPeriod"/>
            </a:pPr>
            <a:r>
              <a:rPr lang="en-US" sz="238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Test the model on the most recent sales data and compare its predictions to actual revenue to identify any gaps.</a:t>
            </a:r>
          </a:p>
          <a:p>
            <a:pPr marL="515754" lvl="1" indent="-257877" algn="just">
              <a:lnSpc>
                <a:spcPts val="3344"/>
              </a:lnSpc>
              <a:buAutoNum type="arabicPeriod"/>
            </a:pPr>
            <a:r>
              <a:rPr lang="en-US" sz="238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Identify and fix errors after testing to improve prediction accuracy.</a:t>
            </a:r>
          </a:p>
          <a:p>
            <a:pPr marL="515754" lvl="1" indent="-257877" algn="just">
              <a:lnSpc>
                <a:spcPts val="3344"/>
              </a:lnSpc>
              <a:buAutoNum type="arabicPeriod"/>
            </a:pPr>
            <a:r>
              <a:rPr lang="en-US" sz="238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Deploy the model using an efficient strategy, such as a web-based dashboard or an API integrated into the sales system.</a:t>
            </a:r>
          </a:p>
          <a:p>
            <a:pPr marL="515754" lvl="1" indent="-257877" algn="just">
              <a:lnSpc>
                <a:spcPts val="3344"/>
              </a:lnSpc>
              <a:buAutoNum type="arabicPeriod"/>
            </a:pPr>
            <a:r>
              <a:rPr lang="en-US" sz="238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Continuously improve the model by collecting new transaction data, engineering additional features (e.g., seasonality, promotions), and fine-tuning parameters to better capture sales patterns.</a:t>
            </a:r>
          </a:p>
          <a:p>
            <a:pPr marL="0" lvl="0" indent="0" algn="just">
              <a:lnSpc>
                <a:spcPts val="3344"/>
              </a:lnSpc>
              <a:spcBef>
                <a:spcPct val="0"/>
              </a:spcBef>
            </a:pPr>
            <a:r>
              <a:rPr lang="en-US" sz="238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By following these steps, the business can rely on the model for faster and more informed decision-making, ensuring stock levels and pricing strategies are optimized automatically.</a:t>
            </a:r>
          </a:p>
          <a:p>
            <a:pPr marL="0" lvl="0" indent="0" algn="just">
              <a:lnSpc>
                <a:spcPts val="3344"/>
              </a:lnSpc>
              <a:spcBef>
                <a:spcPct val="0"/>
              </a:spcBef>
            </a:pPr>
            <a:endParaRPr lang="en-US" sz="2388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196833" y="4041680"/>
            <a:ext cx="11894334" cy="1975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089"/>
              </a:lnSpc>
              <a:spcBef>
                <a:spcPct val="0"/>
              </a:spcBef>
            </a:pPr>
            <a:r>
              <a:rPr lang="en-US" sz="11492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382</Words>
  <Application>Microsoft Office PowerPoint</Application>
  <PresentationFormat>Custom</PresentationFormat>
  <Paragraphs>56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Open Sans Bold</vt:lpstr>
      <vt:lpstr>TT Supermolot Neue Expanded Bold</vt:lpstr>
      <vt:lpstr>TT Supermolot Neue Expanded</vt:lpstr>
      <vt:lpstr>Calibri</vt:lpstr>
      <vt:lpstr>Open Sans</vt:lpstr>
      <vt:lpstr>Arial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Gradient Bold Neon Modern Geometric Shape Programming Presentation</dc:title>
  <cp:lastModifiedBy>jojo</cp:lastModifiedBy>
  <cp:revision>2</cp:revision>
  <dcterms:created xsi:type="dcterms:W3CDTF">2006-08-16T00:00:00Z</dcterms:created>
  <dcterms:modified xsi:type="dcterms:W3CDTF">2026-04-15T18:24:21Z</dcterms:modified>
  <dc:identifier>DAG8MD2e12M</dc:identifier>
</cp:coreProperties>
</file>